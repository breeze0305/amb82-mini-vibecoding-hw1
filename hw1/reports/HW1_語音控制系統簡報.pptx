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23fb87dd314e28" /><Relationship Type="http://schemas.openxmlformats.org/officeDocument/2006/relationships/extended-properties" Target="/docProps/app.xml" Id="Re407dbadaf284bce" /><Relationship Type="http://schemas.openxmlformats.org/officeDocument/2006/relationships/officeDocument" Target="/ppt/presentation.xml" Id="R3d34effc1d9d47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3c0757dc8c4034"/>
  </p:sldMasterIdLst>
  <p:notesMasterIdLst>
    <p:notesMasterId xmlns:r="http://schemas.openxmlformats.org/officeDocument/2006/relationships" r:id="R744b26e130dc41a4"/>
  </p:notesMasterIdLst>
  <p:sldIdLst>
    <p:sldId xmlns:r="http://schemas.openxmlformats.org/officeDocument/2006/relationships" id="256" r:id="R1179db3e04464875"/>
    <p:sldId xmlns:r="http://schemas.openxmlformats.org/officeDocument/2006/relationships" id="257" r:id="R9054f58a24a4473d"/>
    <p:sldId xmlns:r="http://schemas.openxmlformats.org/officeDocument/2006/relationships" id="258" r:id="Re2cab07186914db4"/>
    <p:sldId xmlns:r="http://schemas.openxmlformats.org/officeDocument/2006/relationships" id="259" r:id="Rb9345bcab2c04aa4"/>
    <p:sldId xmlns:r="http://schemas.openxmlformats.org/officeDocument/2006/relationships" id="260" r:id="Re3e93b20aebf40f2"/>
    <p:sldId xmlns:r="http://schemas.openxmlformats.org/officeDocument/2006/relationships" id="261" r:id="R5b81db37f9d34423"/>
    <p:sldId xmlns:r="http://schemas.openxmlformats.org/officeDocument/2006/relationships" id="262" r:id="R7b39370057c44116"/>
    <p:sldId xmlns:r="http://schemas.openxmlformats.org/officeDocument/2006/relationships" id="263" r:id="Rcdc7250f8e464f87"/>
    <p:sldId xmlns:r="http://schemas.openxmlformats.org/officeDocument/2006/relationships" id="264" r:id="Rcc8e4539cd184af9"/>
    <p:sldId xmlns:r="http://schemas.openxmlformats.org/officeDocument/2006/relationships" id="265" r:id="R069eb9574b974c64"/>
    <p:sldId xmlns:r="http://schemas.openxmlformats.org/officeDocument/2006/relationships" id="266" r:id="R0ac322e4d81547d6"/>
    <p:sldId xmlns:r="http://schemas.openxmlformats.org/officeDocument/2006/relationships" id="267" r:id="Rf0774a58b27d45ca"/>
    <p:sldId xmlns:r="http://schemas.openxmlformats.org/officeDocument/2006/relationships" id="268" r:id="Rabe02e8840cf4b01"/>
    <p:sldId xmlns:r="http://schemas.openxmlformats.org/officeDocument/2006/relationships" id="269" r:id="Rab6b219009754d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2d87cec2c1459f" /><Relationship Type="http://schemas.openxmlformats.org/officeDocument/2006/relationships/slideMaster" Target="/ppt/slideMasters/slideMaster1.xml" Id="R573c0757dc8c4034" /><Relationship Type="http://schemas.openxmlformats.org/officeDocument/2006/relationships/notesMaster" Target="/ppt/notesMasters/notesMaster1.xml" Id="R744b26e130dc41a4" /><Relationship Type="http://schemas.openxmlformats.org/officeDocument/2006/relationships/presProps" Target="/ppt/presProps.xml" Id="R8e91e8b610c744f9" /><Relationship Type="http://schemas.openxmlformats.org/officeDocument/2006/relationships/tableStyles" Target="/ppt/tableStyles.xml" Id="R0275baa44eb842a1" /><Relationship Type="http://schemas.openxmlformats.org/officeDocument/2006/relationships/slide" Target="/ppt/slides/slide1.xml" Id="R1179db3e04464875" /><Relationship Type="http://schemas.openxmlformats.org/officeDocument/2006/relationships/slide" Target="/ppt/slides/slide2.xml" Id="R9054f58a24a4473d" /><Relationship Type="http://schemas.openxmlformats.org/officeDocument/2006/relationships/slide" Target="/ppt/slides/slide3.xml" Id="Re2cab07186914db4" /><Relationship Type="http://schemas.openxmlformats.org/officeDocument/2006/relationships/slide" Target="/ppt/slides/slide4.xml" Id="Rb9345bcab2c04aa4" /><Relationship Type="http://schemas.openxmlformats.org/officeDocument/2006/relationships/slide" Target="/ppt/slides/slide5.xml" Id="Re3e93b20aebf40f2" /><Relationship Type="http://schemas.openxmlformats.org/officeDocument/2006/relationships/slide" Target="/ppt/slides/slide6.xml" Id="R5b81db37f9d34423" /><Relationship Type="http://schemas.openxmlformats.org/officeDocument/2006/relationships/slide" Target="/ppt/slides/slide7.xml" Id="R7b39370057c44116" /><Relationship Type="http://schemas.openxmlformats.org/officeDocument/2006/relationships/slide" Target="/ppt/slides/slide8.xml" Id="Rcdc7250f8e464f87" /><Relationship Type="http://schemas.openxmlformats.org/officeDocument/2006/relationships/slide" Target="/ppt/slides/slide9.xml" Id="Rcc8e4539cd184af9" /><Relationship Type="http://schemas.openxmlformats.org/officeDocument/2006/relationships/slide" Target="/ppt/slides/slide10.xml" Id="R069eb9574b974c64" /><Relationship Type="http://schemas.openxmlformats.org/officeDocument/2006/relationships/slide" Target="/ppt/slides/slide11.xml" Id="R0ac322e4d81547d6" /><Relationship Type="http://schemas.openxmlformats.org/officeDocument/2006/relationships/slide" Target="/ppt/slides/slide12.xml" Id="Rf0774a58b27d45ca" /><Relationship Type="http://schemas.openxmlformats.org/officeDocument/2006/relationships/slide" Target="/ppt/slides/slide13.xml" Id="Rabe02e8840cf4b01" /><Relationship Type="http://schemas.openxmlformats.org/officeDocument/2006/relationships/slide" Target="/ppt/slides/slide14.xml" Id="Rab6b219009754d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2fb8e2427442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dec3f61aa54eac" /><Relationship Type="http://schemas.openxmlformats.org/officeDocument/2006/relationships/notesMaster" Target="/ppt/notesMasters/notesMaster1.xml" Id="Ra5515fb1772143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b7963ec44c4251" /><Relationship Type="http://schemas.openxmlformats.org/officeDocument/2006/relationships/notesMaster" Target="/ppt/notesMasters/notesMaster1.xml" Id="Rf046cd241d6d41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b7d094e10048ee" /><Relationship Type="http://schemas.openxmlformats.org/officeDocument/2006/relationships/notesMaster" Target="/ppt/notesMasters/notesMaster1.xml" Id="R486265e2337e48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c3cb5a19cc4e0a" /><Relationship Type="http://schemas.openxmlformats.org/officeDocument/2006/relationships/notesMaster" Target="/ppt/notesMasters/notesMaster1.xml" Id="R931120dc33444b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1d73b1398048c9" /><Relationship Type="http://schemas.openxmlformats.org/officeDocument/2006/relationships/notesMaster" Target="/ppt/notesMasters/notesMaster1.xml" Id="Rd8eddbdb676341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8c98a7ec5848da" /><Relationship Type="http://schemas.openxmlformats.org/officeDocument/2006/relationships/notesMaster" Target="/ppt/notesMasters/notesMaster1.xml" Id="R29925a85290b4c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035b5bb98c45d3" /><Relationship Type="http://schemas.openxmlformats.org/officeDocument/2006/relationships/notesMaster" Target="/ppt/notesMasters/notesMaster1.xml" Id="Rd50aaa9c855345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2569caeb7c4cc7" /><Relationship Type="http://schemas.openxmlformats.org/officeDocument/2006/relationships/notesMaster" Target="/ppt/notesMasters/notesMaster1.xml" Id="R902e3bc106f649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132038393e409e" /><Relationship Type="http://schemas.openxmlformats.org/officeDocument/2006/relationships/notesMaster" Target="/ppt/notesMasters/notesMaster1.xml" Id="R1534f882202d4f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83b342dca3493b" /><Relationship Type="http://schemas.openxmlformats.org/officeDocument/2006/relationships/notesMaster" Target="/ppt/notesMasters/notesMaster1.xml" Id="R48603e4c2d044a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fbb74af6aa4be4" /><Relationship Type="http://schemas.openxmlformats.org/officeDocument/2006/relationships/notesMaster" Target="/ppt/notesMasters/notesMaster1.xml" Id="R116559ab2cf14e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4dbceecb994ad5" /><Relationship Type="http://schemas.openxmlformats.org/officeDocument/2006/relationships/notesMaster" Target="/ppt/notesMasters/notesMaster1.xml" Id="R0cfcd9c4df824d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a27ac0c21d4d9b" /><Relationship Type="http://schemas.openxmlformats.org/officeDocument/2006/relationships/notesMaster" Target="/ppt/notesMasters/notesMaster1.xml" Id="R7a81e63a04f14a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7b2d36506444d3" /><Relationship Type="http://schemas.openxmlformats.org/officeDocument/2006/relationships/notesMaster" Target="/ppt/notesMasters/notesMaster1.xml" Id="R866741af00294e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份專題把語音辨識和操作介面放在電腦，開發板只處理簡單的燈號控制。我會先介紹操作流程，再說明辨識與通訊的設計，最後用三分鐘展示連線、語音、拒絕非控制語句及斷線提示。現有紀錄已驗證軟體與板端回覆，真人語音和實際燈光仍需要 demo 來確認。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資料依據：</a:t>
            </a:r>
          </a:p>
          <a:p xmlns:a="http://schemas.openxmlformats.org/drawingml/2006/main">
            <a:r>
              <a:t>hw1/readme.md</a:t>
            </a:r>
          </a:p>
          <a:p xmlns:a="http://schemas.openxmlformats.org/drawingml/2006/main">
            <a:r>
              <a:t>hw1/docs/verification.md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本需求只有兩個語音口令：左邊開藍燈，右邊開綠燈。每個口令只操作對應的燈，所以如果先開藍燈再開綠燈，兩顆可以同時亮。全部關燈使用介面按鈕，方便每次測試前重設。連線尚未驗證時，控制和語音按鈕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資料依據：</a:t>
            </a:r>
          </a:p>
          <a:p xmlns:a="http://schemas.openxmlformats.org/drawingml/2006/main">
            <a:r>
              <a:t>hw1/readme.md</a:t>
            </a:r>
          </a:p>
          <a:p xmlns:a="http://schemas.openxmlformats.org/drawingml/2006/main">
            <a:r>
              <a:t>hw1/desktop/app.py</a:t>
            </a:r>
          </a:p>
          <a:p xmlns:a="http://schemas.openxmlformats.org/drawingml/2006/main">
            <a:r>
              <a:t>hw1/firmware/amb82_voice_led/amb82_voice_led.ino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資料處理都從電腦開始。麥克風錄到的音訊先判斷句尾，再由 Whisper 轉成中文。文字經過規則判斷，只有明確的單一開燈口令才轉成控制命令。電腦透過區域網路的 TCP 8266 送到開發板，板子執行後回覆。音訊不需要傳給開發板，也不會上傳雲端辨識服務。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資料依據：</a:t>
            </a:r>
          </a:p>
          <a:p xmlns:a="http://schemas.openxmlformats.org/drawingml/2006/main">
            <a:r>
              <a:t>hw1/desktop/speech.py</a:t>
            </a:r>
          </a:p>
          <a:p xmlns:a="http://schemas.openxmlformats.org/drawingml/2006/main">
            <a:r>
              <a:t>hw1/desktop/commands.py</a:t>
            </a:r>
          </a:p>
          <a:p xmlns:a="http://schemas.openxmlformats.org/drawingml/2006/main">
            <a:r>
              <a:t>hw1/desktop/protocol.py</a:t>
            </a:r>
          </a:p>
          <a:p xmlns:a="http://schemas.openxmlformats.org/drawingml/2006/main">
            <a:r>
              <a:t>hw1/firmware/amb82_voice_led/amb82_voice_led.ino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介面分成連線、錄音和結果。先輸入板子當下的 IP，成功握手後才能操作。結果區保留原始辨識文字，所以觀眾可以看到辨識器實際聽成什麼。語句判斷另外說明是否經過近音校正。傳輸結果與通訊狀態也分開呈現，送出指令本身不等於執行成功。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資料依據：</a:t>
            </a:r>
          </a:p>
          <a:p xmlns:a="http://schemas.openxmlformats.org/drawingml/2006/main">
            <a:r>
              <a:t>hw1/desktop/app.py</a:t>
            </a:r>
          </a:p>
          <a:p xmlns:a="http://schemas.openxmlformats.org/drawingml/2006/main">
            <a:r>
              <a:t>hw1/desktop/protocol.py</a:t>
            </a:r>
          </a:p>
          <a:p xmlns:a="http://schemas.openxmlformats.org/drawingml/2006/main">
            <a:r>
              <a:t>hw1/readme.md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最初使用 Vosk，但 Hanhan 的兩個開燈音訊被辨識成台燈。台燈屬於不同對象，因此原本規則拒絕執行，這個拒絕是正確的保護。接著用相同音訊換成 Whisper small，辨識回開燈，並測試三種聲音的左右命令與另外兩句否定、非控制語句，共八個樣本都符合預期。這不是八個真人，也不能宣稱百分之百準確。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資料依據：</a:t>
            </a:r>
          </a:p>
          <a:p xmlns:a="http://schemas.openxmlformats.org/drawingml/2006/main">
            <a:r>
              <a:t>hw1/docs/verification.md</a:t>
            </a:r>
          </a:p>
          <a:p xmlns:a="http://schemas.openxmlformats.org/drawingml/2006/main">
            <a:r>
              <a:t>hw1/logs/whisper-model-check.json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錄音不是固定切出片段就直接猜命令。程式先用 PyAV 轉成 16 kHz，再以 Silero VAD 判斷是否有完整語音及句尾，約停頓一秒後才交給 Whisper。Whisper 保留整句文字，避免只挑出開燈片段而漏掉後面的否定。取消或超過十二秒都不執行未完成語句。合成 WAV 在測試機的模型推論時間約一點一五到一點四四秒，這不包含錄音與句尾等待。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資料依據：</a:t>
            </a:r>
          </a:p>
          <a:p xmlns:a="http://schemas.openxmlformats.org/drawingml/2006/main">
            <a:r>
              <a:t>hw1/desktop/speech.py</a:t>
            </a:r>
          </a:p>
          <a:p xmlns:a="http://schemas.openxmlformats.org/drawingml/2006/main">
            <a:r>
              <a:t>hw1/logs/whisper-model-check.json</a:t>
            </a:r>
          </a:p>
          <a:p xmlns:a="http://schemas.openxmlformats.org/drawingml/2006/main">
            <a:r>
              <a:t>hw1/docs/verification.md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使用者曾回報有并开灯，所以這裡加入有限的拼音容錯。方向第一音節只能是 zuo 或 you，邊允許 bian、bin、bing，最後兩音必須是 kai、deng。判斷之前先拒絕否定、取消、問句、轉述和其他動作，並且保留原始文字。這不是完整語意模型，也不是整句相似度二選一。如果辨識器完全漏掉不要，規則仍可能無法恢復原意，這是需要揭露的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資料依據：</a:t>
            </a:r>
          </a:p>
          <a:p xmlns:a="http://schemas.openxmlformats.org/drawingml/2006/main">
            <a:r>
              <a:t>hw1/desktop/commands.py</a:t>
            </a:r>
          </a:p>
          <a:p xmlns:a="http://schemas.openxmlformats.org/drawingml/2006/main">
            <a:r>
              <a:t>hw1/desktop/tests/test_commands.py</a:t>
            </a:r>
          </a:p>
          <a:p xmlns:a="http://schemas.openxmlformats.org/drawingml/2006/main">
            <a:r>
              <a:t>hw1/readme.md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電腦先送 HELLO，驗證裝置名稱 AMB82-MINI 和 protocol 1，再啟用操作。每個請求帶整數 id，回覆必須是相同 id 和 command，且 ok、blue、green 必須是布林值。三秒未收到完整且有效回覆就視為通訊失敗，不能直接說燈已成功亮起。程式每五秒會用 STATUS 確認狀態。ACK 表示韌體已處理指令，不代表光學量測。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資料依據：</a:t>
            </a:r>
          </a:p>
          <a:p xmlns:a="http://schemas.openxmlformats.org/drawingml/2006/main">
            <a:r>
              <a:t>hw1/desktop/protocol.py</a:t>
            </a:r>
          </a:p>
          <a:p xmlns:a="http://schemas.openxmlformats.org/drawingml/2006/main">
            <a:r>
              <a:t>hw1/desktop/app.py</a:t>
            </a:r>
          </a:p>
          <a:p xmlns:a="http://schemas.openxmlformats.org/drawingml/2006/main">
            <a:r>
              <a:t>hw1/firmware/amb82_voice_led/amb82_voice_led.ino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這個版本使用 AMB82-MINI，不能套用其他 Ameba 型號的腳位。官方 SDK 定義藍燈在 23、PF9，綠燈在 24、PE6，HIGH 亮、LOW 滅。開機先關兩燈，開啟其中一顆不影響另一顆。Arduino CLI 已透過 COM3 成功燒錄，韌體大小 4,788,224 bytes。Wi-Fi 名稱與密碼保留在本機設定檔，簡報不展示。重新燒錄需要 Download Mode，重啟後才執行網路服務。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資料依據：</a:t>
            </a:r>
          </a:p>
          <a:p xmlns:a="http://schemas.openxmlformats.org/drawingml/2006/main">
            <a:r>
              <a:t>hw1/firmware/amb82_voice_led/amb82_voice_led.ino</a:t>
            </a:r>
          </a:p>
          <a:p xmlns:a="http://schemas.openxmlformats.org/drawingml/2006/main">
            <a:r>
              <a:t>hw1/logs/upload.log</a:t>
            </a:r>
          </a:p>
          <a:p xmlns:a="http://schemas.openxmlformats.org/drawingml/2006/main">
            <a:r>
              <a:t>hw1/logs/compile.log</a:t>
            </a:r>
          </a:p>
          <a:p xmlns:a="http://schemas.openxmlformats.org/drawingml/2006/main">
            <a:r>
              <a:t>hw1/tools/upload.ps1</a:t>
            </a:r>
          </a:p>
          <a:p xmlns:a="http://schemas.openxmlformats.org/drawingml/2006/main">
            <a:r>
              <a:t>hw1/tools/read_ip.ps1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檢查分成幾層。桌面程式有四十二項回歸測試，韌體解析器有九十三項檢查。合成 WAV 有八筆模型比較，加上五筆正式流程整合檢查，其中包含模擬麥克風輸入。硬體方面，歷史測試 IP 192.168.49.201 的開發板已回覆 HELLO、藍燈、綠燈和關燈。也確認握手前的控制以及未知命令都遭拒絕。這些數字只代表對應測試範圍，不等於真人辨識率。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資料依據：</a:t>
            </a:r>
          </a:p>
          <a:p xmlns:a="http://schemas.openxmlformats.org/drawingml/2006/main">
            <a:r>
              <a:t>hw1/docs/verification.md</a:t>
            </a:r>
          </a:p>
          <a:p xmlns:a="http://schemas.openxmlformats.org/drawingml/2006/main">
            <a:r>
              <a:t>hw1/logs/whisper-model-check.json</a:t>
            </a:r>
          </a:p>
          <a:p xmlns:a="http://schemas.openxmlformats.org/drawingml/2006/main">
            <a:r>
              <a:t>hw1/logs/whisper-integration-check.json</a:t>
            </a:r>
          </a:p>
          <a:p xmlns:a="http://schemas.openxmlformats.org/drawingml/2006/main">
            <a:r>
              <a:t>hw1/logs/hardware-check.json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 test-record.csv 留有十二筆空白結果。正式驗收要左邊與右邊各五次，再做非控制語句及通訊中斷。每次都要記錄原始文字、畫面提示與兩顆燈實際反應，失敗也照實記。現有限制有兩個：辨識器漏掉否定詞時，後續規則可能沒有足夠資訊拒絕；ACK 只反映韌體寫入的 GPIO 狀態，所以仍需要眼睛確認燈光。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資料依據：</a:t>
            </a:r>
          </a:p>
          <a:p xmlns:a="http://schemas.openxmlformats.org/drawingml/2006/main">
            <a:r>
              <a:t>hw1/docs/test-record.csv</a:t>
            </a:r>
          </a:p>
          <a:p xmlns:a="http://schemas.openxmlformats.org/drawingml/2006/main">
            <a:r>
              <a:t>hw1/docs/verification.md</a:t>
            </a:r>
          </a:p>
          <a:p xmlns:a="http://schemas.openxmlformats.org/drawingml/2006/main">
            <a:r>
              <a:t>hw1/desktop/commands.py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建議時間：3 分鐘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錄影前先暖機載入 Whisper，確認當下 IP 和麥克風。畫面需同時拍到桌面結果區與開發板 LED，可以用螢幕錄影搭配攝影機小視窗。先展示未連線的按鈕停用，再連線。左右口令各操作一次，兩次之間可全部關燈。接著用今天天氣很好與不要左邊開燈展示拒絕。近音規則用文字輸入有并开灯，明確說這是在測文字容錯，不假裝真人錄音。最後斷 Wi-Fi 展示失敗，恢復連線並關燈。若等待超過預計時間，保留原始錄影並如實說明。這段三分鐘展示不代替十二次正式驗收。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資料依據：</a:t>
            </a:r>
          </a:p>
          <a:p xmlns:a="http://schemas.openxmlformats.org/drawingml/2006/main">
            <a:r>
              <a:t>hw1/readme.md</a:t>
            </a:r>
          </a:p>
          <a:p xmlns:a="http://schemas.openxmlformats.org/drawingml/2006/main">
            <a:r>
              <a:t>hw1/desktop/app.py</a:t>
            </a:r>
          </a:p>
          <a:p xmlns:a="http://schemas.openxmlformats.org/drawingml/2006/main">
            <a:r>
              <a:t>hw1/docs/test-record.csv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失敗時先判斷哪一層有問題。連線失敗先查供電、IP 和網路，板子一次只接受一台桌面。錄音問題先查裝置與權限，等載入完成再說。辨識錯誤要先看原始文字，避免把規則正確拒絕誤認為通訊失敗。通訊逾時則重新連線後確認狀態，不能直接把未知當作熄滅。展示失敗可以照實說明，不必掩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資料依據：</a:t>
            </a:r>
          </a:p>
          <a:p xmlns:a="http://schemas.openxmlformats.org/drawingml/2006/main">
            <a:r>
              <a:t>hw1/readme.md</a:t>
            </a:r>
          </a:p>
          <a:p xmlns:a="http://schemas.openxmlformats.org/drawingml/2006/main">
            <a:r>
              <a:t>hw1/desktop/app.py</a:t>
            </a:r>
          </a:p>
          <a:p xmlns:a="http://schemas.openxmlformats.org/drawingml/2006/main">
            <a:r>
              <a:t>hw1/desktop/speech.py</a:t>
            </a:r>
          </a:p>
          <a:p xmlns:a="http://schemas.openxmlformats.org/drawingml/2006/main">
            <a:r>
              <a:t>hw1/desktop/protocol.py</a:t>
            </a:r>
          </a:p>
          <a:p xmlns:a="http://schemas.openxmlformats.org/drawingml/2006/main">
            <a:r>
              <a:t>hw1/firmware/amb82_voice_led/amb82_voice_led.ino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目前已經完成可啟動的電腦端介面、離線中文辨識、近音判斷、通訊確認和開發板韌體，也已完成燒錄與實機 ACK 檢查。下一步就是用實際麥克風與肉眼觀察，把十二項現場結果填完整。日常操作只要啟動 start.cmd，輸入板子當下的 IP，再開始說話。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資料依據：</a:t>
            </a:r>
          </a:p>
          <a:p xmlns:a="http://schemas.openxmlformats.org/drawingml/2006/main">
            <a:r>
              <a:t>hw1/readme.md</a:t>
            </a:r>
          </a:p>
          <a:p xmlns:a="http://schemas.openxmlformats.org/drawingml/2006/main">
            <a:r>
              <a:t>hw1/docs/verification.md</a:t>
            </a:r>
          </a:p>
          <a:p xmlns:a="http://schemas.openxmlformats.org/drawingml/2006/main">
            <a:r>
              <a:t>hw1/docs/test-record.csv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c7778adc348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5d2bf193ee4944" /><Relationship Type="http://schemas.openxmlformats.org/officeDocument/2006/relationships/slideLayout" Target="/ppt/slideLayouts/slideLayout1.xml" Id="R94ea5156aa564a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ea5156aa564a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87b889aee4a61" /><Relationship Type="http://schemas.openxmlformats.org/officeDocument/2006/relationships/notesSlide" Target="/ppt/notesSlides/notesSlide1.xml" Id="R57f8dd4f176942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0a6bb1b6c482f" /><Relationship Type="http://schemas.openxmlformats.org/officeDocument/2006/relationships/notesSlide" Target="/ppt/notesSlides/notesSlide2.xml" Id="Rb65d0f2e31f14b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9d74b6407414a" /><Relationship Type="http://schemas.openxmlformats.org/officeDocument/2006/relationships/notesSlide" Target="/ppt/notesSlides/notesSlide3.xml" Id="R6f0122c8ecc94e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f7d9e40524aa2" /><Relationship Type="http://schemas.openxmlformats.org/officeDocument/2006/relationships/image" Target="/ppt/media/image.jpeg" Id="Rb96fdbbe8b1f4958" /><Relationship Type="http://schemas.openxmlformats.org/officeDocument/2006/relationships/notesSlide" Target="/ppt/notesSlides/notesSlide4.xml" Id="R62f44a29c00a40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fdf41bdb149f7" /><Relationship Type="http://schemas.openxmlformats.org/officeDocument/2006/relationships/notesSlide" Target="/ppt/notesSlides/notesSlide5.xml" Id="R35167728166a49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3bac9e26b4bf3" /><Relationship Type="http://schemas.openxmlformats.org/officeDocument/2006/relationships/notesSlide" Target="/ppt/notesSlides/notesSlide6.xml" Id="R62074e4d2ea441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b92f3c7474608" /><Relationship Type="http://schemas.openxmlformats.org/officeDocument/2006/relationships/notesSlide" Target="/ppt/notesSlides/notesSlide7.xml" Id="Re9d9d87db6184e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321196e954ce4" /><Relationship Type="http://schemas.openxmlformats.org/officeDocument/2006/relationships/notesSlide" Target="/ppt/notesSlides/notesSlide8.xml" Id="R24db85cc8d5449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f659134504b52" /><Relationship Type="http://schemas.openxmlformats.org/officeDocument/2006/relationships/notesSlide" Target="/ppt/notesSlides/notesSlide9.xml" Id="R9f562dc535fe49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6ac4023d04a36" /><Relationship Type="http://schemas.openxmlformats.org/officeDocument/2006/relationships/notesSlide" Target="/ppt/notesSlides/notesSlide10.xml" Id="Rdd488e3368ff4c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7294a18494c2d" /><Relationship Type="http://schemas.openxmlformats.org/officeDocument/2006/relationships/notesSlide" Target="/ppt/notesSlides/notesSlide11.xml" Id="R93156552e29642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7f43f51f545a2" /><Relationship Type="http://schemas.openxmlformats.org/officeDocument/2006/relationships/notesSlide" Target="/ppt/notesSlides/notesSlide12.xml" Id="Receaec4165df49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ea7d93e3f4f13" /><Relationship Type="http://schemas.openxmlformats.org/officeDocument/2006/relationships/notesSlide" Target="/ppt/notesSlides/notesSlide13.xml" Id="R1352fc441e404e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e1ed711a646c2" /><Relationship Type="http://schemas.openxmlformats.org/officeDocument/2006/relationships/notesSlide" Target="/ppt/notesSlides/notesSlide14.xml" Id="Re2aa7a0082234c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u4rvdo-0">
            <a:extLst xmlns:a="http://schemas.openxmlformats.org/drawingml/2006/main">
              <a:ext uri="{FF2B5EF4-FFF2-40B4-BE49-F238E27FC236}">
                <a16:creationId xmlns:a16="http://schemas.microsoft.com/office/drawing/2014/main" id="{22120A7A-4AF6-4837-91C6-03BAE06D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9BF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A9BFCE"/>
                </a:solidFill>
                <a:latin typeface="Microsoft JhengHei"/>
                <a:ea typeface="Microsoft JhengHei"/>
                <a:cs typeface="Microsoft JhengHei"/>
              </a:rPr>
              <a:t>01 / 14</a:t>
            </a:r>
          </a:p>
        </p:txBody>
      </p:sp>
      <p:sp>
        <p:nvSpPr>
          <p:cNvPr id="2" name="text-u4rvdo-1">
            <a:extLst xmlns:a="http://schemas.openxmlformats.org/drawingml/2006/main">
              <a:ext uri="{FF2B5EF4-FFF2-40B4-BE49-F238E27FC236}">
                <a16:creationId xmlns:a16="http://schemas.microsoft.com/office/drawing/2014/main" id="{95EC320F-2D9D-41AF-B6EC-CA8B2DE5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8C4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8C4D7"/>
                </a:solidFill>
                <a:latin typeface="Microsoft JhengHei"/>
                <a:ea typeface="Microsoft JhengHei"/>
                <a:cs typeface="Microsoft JhengHei"/>
              </a:rPr>
              <a:t>HW1  語音控制系統</a:t>
            </a:r>
          </a:p>
        </p:txBody>
      </p:sp>
      <p:sp>
        <p:nvSpPr>
          <p:cNvPr id="3" name="text-u4rvdo-2">
            <a:extLst xmlns:a="http://schemas.openxmlformats.org/drawingml/2006/main">
              <a:ext uri="{FF2B5EF4-FFF2-40B4-BE49-F238E27FC236}">
                <a16:creationId xmlns:a16="http://schemas.microsoft.com/office/drawing/2014/main" id="{1CD62C54-9C3E-4924-AD6E-7A2D4DD5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一句話，控制板上 LED</a:t>
            </a:r>
          </a:p>
        </p:txBody>
      </p:sp>
      <p:sp>
        <p:nvSpPr>
          <p:cNvPr id="4" name="text-u4rvdo-3">
            <a:extLst xmlns:a="http://schemas.openxmlformats.org/drawingml/2006/main">
              <a:ext uri="{FF2B5EF4-FFF2-40B4-BE49-F238E27FC236}">
                <a16:creationId xmlns:a16="http://schemas.microsoft.com/office/drawing/2014/main" id="{EC2F6231-6C81-4C8D-A817-E54AD440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9429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電腦辨識中文</a:t>
            </a:r>
          </a:p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AMB82-MINI 執行並回覆</a:t>
            </a:r>
          </a:p>
        </p:txBody>
      </p:sp>
      <p:sp>
        <p:nvSpPr>
          <p:cNvPr id="5" name="text-u4rvdo-4">
            <a:extLst xmlns:a="http://schemas.openxmlformats.org/drawingml/2006/main">
              <a:ext uri="{FF2B5EF4-FFF2-40B4-BE49-F238E27FC236}">
                <a16:creationId xmlns:a16="http://schemas.microsoft.com/office/drawing/2014/main" id="{E93C0BB7-0707-4443-9B99-8B123DB5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85AE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85AEFF"/>
                </a:solidFill>
                <a:latin typeface="Microsoft JhengHei"/>
                <a:ea typeface="Microsoft JhengHei"/>
                <a:cs typeface="Microsoft JhengHei"/>
              </a:rPr>
              <a:t>「左邊開燈」</a:t>
            </a:r>
          </a:p>
        </p:txBody>
      </p:sp>
      <p:sp>
        <p:nvSpPr>
          <p:cNvPr id="6" name="text-u4rvdo-5">
            <a:extLst xmlns:a="http://schemas.openxmlformats.org/drawingml/2006/main">
              <a:ext uri="{FF2B5EF4-FFF2-40B4-BE49-F238E27FC236}">
                <a16:creationId xmlns:a16="http://schemas.microsoft.com/office/drawing/2014/main" id="{41ABC911-B455-474A-81F5-B65A40F8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387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CDBC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6CDBC2"/>
                </a:solidFill>
                <a:latin typeface="Microsoft JhengHei"/>
                <a:ea typeface="Microsoft JhengHei"/>
                <a:cs typeface="Microsoft JhengHei"/>
              </a:rPr>
              <a:t>「右邊開燈」</a:t>
            </a:r>
          </a:p>
        </p:txBody>
      </p:sp>
    </p:spTree>
    <p:extLst>
      <p:ext uri="{BB962C8B-B14F-4D97-AF65-F5344CB8AC3E}">
        <p14:creationId xmlns:p14="http://schemas.microsoft.com/office/powerpoint/2010/main" val="883794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tu4h50-0">
            <a:extLst xmlns:a="http://schemas.openxmlformats.org/drawingml/2006/main">
              <a:ext uri="{FF2B5EF4-FFF2-40B4-BE49-F238E27FC236}">
                <a16:creationId xmlns:a16="http://schemas.microsoft.com/office/drawing/2014/main" id="{A2F21142-A4BF-4CAC-B8D3-6D7320B2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目標與操作</a:t>
            </a:r>
            <a:r>
              <a: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規則</a:t>
            </a:r>
          </a:p>
        </p:txBody>
      </p:sp>
      <p:sp>
        <p:nvSpPr>
          <p:cNvPr id="2" name="text-tu4h50-1">
            <a:extLst xmlns:a="http://schemas.openxmlformats.org/drawingml/2006/main">
              <a:ext uri="{FF2B5EF4-FFF2-40B4-BE49-F238E27FC236}">
                <a16:creationId xmlns:a16="http://schemas.microsoft.com/office/drawing/2014/main" id="{609416AB-EA41-4DC3-A743-7C101325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02 / 14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38300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095750"/>
                <a:gridCol w="6762750"/>
              </a:tblGrid>
              <a:tr h="8096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使用者說的話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板子動作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</a:tr>
              <a:tr h="8096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左邊開燈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藍燈亮，綠燈維持原狀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右邊開燈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綠燈亮，藍燈維持原狀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  <a:tr h="8096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非控制或否定語句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不送控制指令，燈的狀態不變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tu4h50-2">
            <a:extLst xmlns:a="http://schemas.openxmlformats.org/drawingml/2006/main">
              <a:ext uri="{FF2B5EF4-FFF2-40B4-BE49-F238E27FC236}">
                <a16:creationId xmlns:a16="http://schemas.microsoft.com/office/drawing/2014/main" id="{2220456E-24FC-4BB5-828F-216D098B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054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64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864D8"/>
                </a:solidFill>
                <a:latin typeface="Microsoft JhengHei"/>
                <a:ea typeface="Microsoft JhengHei"/>
                <a:cs typeface="Microsoft JhengHei"/>
              </a:rPr>
              <a:t>先連線成功，才開放語音與控制操作</a:t>
            </a:r>
          </a:p>
        </p:txBody>
      </p:sp>
    </p:spTree>
    <p:extLst>
      <p:ext uri="{BB962C8B-B14F-4D97-AF65-F5344CB8AC3E}">
        <p14:creationId xmlns:p14="http://schemas.microsoft.com/office/powerpoint/2010/main" val="923389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i76533-0">
            <a:extLst xmlns:a="http://schemas.openxmlformats.org/drawingml/2006/main">
              <a:ext uri="{FF2B5EF4-FFF2-40B4-BE49-F238E27FC236}">
                <a16:creationId xmlns:a16="http://schemas.microsoft.com/office/drawing/2014/main" id="{0785679B-A521-46D6-B215-5576E9E1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系統分工</a:t>
            </a:r>
          </a:p>
        </p:txBody>
      </p:sp>
      <p:sp>
        <p:nvSpPr>
          <p:cNvPr id="2" name="text-i76533-1">
            <a:extLst xmlns:a="http://schemas.openxmlformats.org/drawingml/2006/main">
              <a:ext uri="{FF2B5EF4-FFF2-40B4-BE49-F238E27FC236}">
                <a16:creationId xmlns:a16="http://schemas.microsoft.com/office/drawing/2014/main" id="{88EEA570-88B6-47EE-9111-A16A461A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03 / 14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38300"/>
          <a:ext xmlns:a="http://schemas.openxmlformats.org/drawingml/2006/main" cx="10858500" cy="3829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5810250"/>
                <a:gridCol w="2952750"/>
              </a:tblGrid>
              <a:tr h="76581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負責的工作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送出的資料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</a:tr>
              <a:tr h="76581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電腦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Tkinter 介面、麥克風</a:t>
                      </a:r>
                    </a:p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Silero 句尾偵測、Whisper 辨識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原始辨識文字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電腦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拒絕非控制語意</a:t>
                      </a:r>
                    </a:p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有限同音／近音校正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單一控制指令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  <a:tr h="76581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區域網路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TCP 8266</a:t>
                      </a:r>
                    </a:p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HELLO 驗證、JSON 請求與回覆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指令與確認結果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AMB82-MINI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控制 GPIO</a:t>
                      </a:r>
                    </a:p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回傳指令編號及燈號狀態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ACK、blue、green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  <p:sp>
        <p:nvSpPr>
          <p:cNvPr id="4" name="text-i76533-2">
            <a:extLst xmlns:a="http://schemas.openxmlformats.org/drawingml/2006/main">
              <a:ext uri="{FF2B5EF4-FFF2-40B4-BE49-F238E27FC236}">
                <a16:creationId xmlns:a16="http://schemas.microsoft.com/office/drawing/2014/main" id="{7397A295-9070-439F-ABA6-85D66D82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787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7876F"/>
                </a:solidFill>
                <a:latin typeface="Microsoft JhengHei"/>
                <a:ea typeface="Microsoft JhengHei"/>
                <a:cs typeface="Microsoft JhengHei"/>
              </a:rPr>
              <a:t>音訊留在電腦本機，Wi-Fi 只傳控制資料</a:t>
            </a:r>
          </a:p>
        </p:txBody>
      </p:sp>
    </p:spTree>
    <p:extLst>
      <p:ext uri="{BB962C8B-B14F-4D97-AF65-F5344CB8AC3E}">
        <p14:creationId xmlns:p14="http://schemas.microsoft.com/office/powerpoint/2010/main" val="1933094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54vd6t-0">
            <a:extLst xmlns:a="http://schemas.openxmlformats.org/drawingml/2006/main">
              <a:ext uri="{FF2B5EF4-FFF2-40B4-BE49-F238E27FC236}">
                <a16:creationId xmlns:a16="http://schemas.microsoft.com/office/drawing/2014/main" id="{0F6F67C2-A907-4DC8-950A-99F42E1A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桌面操作與回饋</a:t>
            </a:r>
          </a:p>
        </p:txBody>
      </p:sp>
      <p:sp>
        <p:nvSpPr>
          <p:cNvPr id="2" name="text-54vd6t-1">
            <a:extLst xmlns:a="http://schemas.openxmlformats.org/drawingml/2006/main">
              <a:ext uri="{FF2B5EF4-FFF2-40B4-BE49-F238E27FC236}">
                <a16:creationId xmlns:a16="http://schemas.microsoft.com/office/drawing/2014/main" id="{E63F609C-6DE4-46F0-9946-144CFF2F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04 / 14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fdbbe8b1f4958"/>
          <a:stretch xmlns:a="http://schemas.openxmlformats.org/drawingml/2006/main"/>
        </p:blipFill>
        <p:spPr>
          <a:xfrm xmlns:a="http://schemas.openxmlformats.org/drawingml/2006/main">
            <a:off x="1502621" y="1495425"/>
            <a:ext cx="4281383" cy="4229100"/>
          </a:xfrm>
          <a:prstGeom xmlns:a="http://schemas.openxmlformats.org/drawingml/2006/main" prst="rect">
            <a:avLst/>
          </a:prstGeom>
        </p:spPr>
      </p:pic>
      <p:sp>
        <p:nvSpPr>
          <p:cNvPr id="4" name="text-54vd6t-2">
            <a:extLst xmlns:a="http://schemas.openxmlformats.org/drawingml/2006/main">
              <a:ext uri="{FF2B5EF4-FFF2-40B4-BE49-F238E27FC236}">
                <a16:creationId xmlns:a16="http://schemas.microsoft.com/office/drawing/2014/main" id="{22C5BDA7-B132-4D3D-A2C5-EC706C5A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實際程式畫面：尚未連線</a:t>
            </a:r>
          </a:p>
        </p:txBody>
      </p:sp>
      <p:sp>
        <p:nvSpPr>
          <p:cNvPr id="5" name="text-54vd6t-3">
            <a:extLst xmlns:a="http://schemas.openxmlformats.org/drawingml/2006/main">
              <a:ext uri="{FF2B5EF4-FFF2-40B4-BE49-F238E27FC236}">
                <a16:creationId xmlns:a16="http://schemas.microsoft.com/office/drawing/2014/main" id="{7306E14F-1E53-48E2-A943-625F9B33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695450"/>
            <a:ext cx="4314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864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864D8"/>
                </a:solidFill>
                <a:latin typeface="Microsoft JhengHei"/>
                <a:ea typeface="Microsoft JhengHei"/>
                <a:cs typeface="Microsoft JhengHei"/>
              </a:rPr>
              <a:t>IP 與麥克風</a:t>
            </a:r>
          </a:p>
        </p:txBody>
      </p:sp>
      <p:sp>
        <p:nvSpPr>
          <p:cNvPr id="6" name="text-54vd6t-4">
            <a:extLst xmlns:a="http://schemas.openxmlformats.org/drawingml/2006/main">
              <a:ext uri="{FF2B5EF4-FFF2-40B4-BE49-F238E27FC236}">
                <a16:creationId xmlns:a16="http://schemas.microsoft.com/office/drawing/2014/main" id="{E54A4763-2BF7-4927-98AF-485A925A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238375"/>
            <a:ext cx="4314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驗證連線後才能操作</a:t>
            </a:r>
          </a:p>
          <a:p xmlns:a="http://schemas.openxmlformats.org/drawingml/2006/main">
            <a:pPr>
              <a:defRPr sz="210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選好實際使用的麥克風</a:t>
            </a:r>
          </a:p>
        </p:txBody>
      </p:sp>
      <p:sp>
        <p:nvSpPr>
          <p:cNvPr id="7" name="text-54vd6t-5">
            <a:extLst xmlns:a="http://schemas.openxmlformats.org/drawingml/2006/main">
              <a:ext uri="{FF2B5EF4-FFF2-40B4-BE49-F238E27FC236}">
                <a16:creationId xmlns:a16="http://schemas.microsoft.com/office/drawing/2014/main" id="{84716E25-1922-4A17-901B-2333C597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429000"/>
            <a:ext cx="4314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864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864D8"/>
                </a:solidFill>
                <a:latin typeface="Microsoft JhengHei"/>
                <a:ea typeface="Microsoft JhengHei"/>
                <a:cs typeface="Microsoft JhengHei"/>
              </a:rPr>
              <a:t>辨識與執行結果</a:t>
            </a:r>
          </a:p>
        </p:txBody>
      </p:sp>
      <p:sp>
        <p:nvSpPr>
          <p:cNvPr id="8" name="text-54vd6t-6">
            <a:extLst xmlns:a="http://schemas.openxmlformats.org/drawingml/2006/main">
              <a:ext uri="{FF2B5EF4-FFF2-40B4-BE49-F238E27FC236}">
                <a16:creationId xmlns:a16="http://schemas.microsoft.com/office/drawing/2014/main" id="{98A30C68-6F13-4D9C-A841-3F149D88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990975"/>
            <a:ext cx="43148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原始文字保留</a:t>
            </a:r>
          </a:p>
          <a:p xmlns:a="http://schemas.openxmlformats.org/drawingml/2006/main">
            <a:pPr>
              <a:defRPr sz="210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校正口令或拒絕理由</a:t>
            </a:r>
          </a:p>
          <a:p xmlns:a="http://schemas.openxmlformats.org/drawingml/2006/main">
            <a:pPr>
              <a:defRPr sz="210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匹配 ACK 才顯示成功</a:t>
            </a:r>
          </a:p>
        </p:txBody>
      </p:sp>
    </p:spTree>
    <p:extLst>
      <p:ext uri="{BB962C8B-B14F-4D97-AF65-F5344CB8AC3E}">
        <p14:creationId xmlns:p14="http://schemas.microsoft.com/office/powerpoint/2010/main" val="12912401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uf67a-0">
            <a:extLst xmlns:a="http://schemas.openxmlformats.org/drawingml/2006/main">
              <a:ext uri="{FF2B5EF4-FFF2-40B4-BE49-F238E27FC236}">
                <a16:creationId xmlns:a16="http://schemas.microsoft.com/office/drawing/2014/main" id="{3728E956-504B-425C-B516-13A55C1A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辨識模型調整：Vosk 換成 Whisper</a:t>
            </a:r>
          </a:p>
        </p:txBody>
      </p:sp>
      <p:sp>
        <p:nvSpPr>
          <p:cNvPr id="2" name="text-4uf67a-1">
            <a:extLst xmlns:a="http://schemas.openxmlformats.org/drawingml/2006/main">
              <a:ext uri="{FF2B5EF4-FFF2-40B4-BE49-F238E27FC236}">
                <a16:creationId xmlns:a16="http://schemas.microsoft.com/office/drawing/2014/main" id="{A9B2A849-6D84-451B-B700-F6E73A20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05 / 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638300"/>
          <a:ext xmlns:a="http://schemas.openxmlformats.org/drawingml/2006/main" cx="10858500" cy="2495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095750"/>
                <a:gridCol w="3381375"/>
                <a:gridCol w="3381375"/>
              </a:tblGrid>
              <a:tr h="8318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相同合成語音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Vosk 原結果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Whisper small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</a:tr>
              <a:tr h="8318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Hanhan：左邊開燈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誤認為「台燈」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左边开灯。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18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Hanhan：右邊開燈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誤認為「台燈」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右边开灯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  <p:sp>
        <p:nvSpPr>
          <p:cNvPr id="4" name="text-4uf67a-2">
            <a:extLst xmlns:a="http://schemas.openxmlformats.org/drawingml/2006/main">
              <a:ext uri="{FF2B5EF4-FFF2-40B4-BE49-F238E27FC236}">
                <a16:creationId xmlns:a16="http://schemas.microsoft.com/office/drawing/2014/main" id="{A83D2530-E025-4F45-B84C-FDD45499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864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2864D8"/>
                </a:solidFill>
                <a:latin typeface="Microsoft JhengHei"/>
                <a:ea typeface="Microsoft JhengHei"/>
                <a:cs typeface="Microsoft JhengHei"/>
              </a:rPr>
              <a:t>8 個合成 WAV 樣本符合預期</a:t>
            </a:r>
          </a:p>
        </p:txBody>
      </p:sp>
      <p:sp>
        <p:nvSpPr>
          <p:cNvPr id="5" name="text-4uf67a-3">
            <a:extLst xmlns:a="http://schemas.openxmlformats.org/drawingml/2006/main">
              <a:ext uri="{FF2B5EF4-FFF2-40B4-BE49-F238E27FC236}">
                <a16:creationId xmlns:a16="http://schemas.microsoft.com/office/drawing/2014/main" id="{73ABD119-A450-4552-ADFA-E01A1E27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包含三種聲音的左右口令，以及否定與非控制語句</a:t>
            </a:r>
          </a:p>
        </p:txBody>
      </p:sp>
      <p:sp>
        <p:nvSpPr>
          <p:cNvPr id="6" name="text-4uf67a-4">
            <a:extLst xmlns:a="http://schemas.openxmlformats.org/drawingml/2006/main">
              <a:ext uri="{FF2B5EF4-FFF2-40B4-BE49-F238E27FC236}">
                <a16:creationId xmlns:a16="http://schemas.microsoft.com/office/drawing/2014/main" id="{1B476145-30D7-4DB6-93AD-B8DE13F6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76925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這是固定樣本比較，真人與現場噪音表現仍待驗收</a:t>
            </a:r>
          </a:p>
        </p:txBody>
      </p:sp>
    </p:spTree>
    <p:extLst>
      <p:ext uri="{BB962C8B-B14F-4D97-AF65-F5344CB8AC3E}">
        <p14:creationId xmlns:p14="http://schemas.microsoft.com/office/powerpoint/2010/main" val="1146599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vhp8v8-0">
            <a:extLst xmlns:a="http://schemas.openxmlformats.org/drawingml/2006/main">
              <a:ext uri="{FF2B5EF4-FFF2-40B4-BE49-F238E27FC236}">
                <a16:creationId xmlns:a16="http://schemas.microsoft.com/office/drawing/2014/main" id="{A657B1A5-A7B5-45BF-B923-0661365C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本機錄音與句尾判斷</a:t>
            </a:r>
          </a:p>
        </p:txBody>
      </p:sp>
      <p:sp>
        <p:nvSpPr>
          <p:cNvPr id="2" name="text-vhp8v8-1">
            <a:extLst xmlns:a="http://schemas.openxmlformats.org/drawingml/2006/main">
              <a:ext uri="{FF2B5EF4-FFF2-40B4-BE49-F238E27FC236}">
                <a16:creationId xmlns:a16="http://schemas.microsoft.com/office/drawing/2014/main" id="{0F62E852-4F97-4836-8FBD-BB9F46E2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06 / 14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1638300"/>
          <a:ext xmlns:a="http://schemas.openxmlformats.org/drawingml/2006/main" cx="10858500" cy="3657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90875"/>
                <a:gridCol w="7667625"/>
              </a:tblGrid>
              <a:tr h="73152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步驟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處理方式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</a:tr>
              <a:tr h="73152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 錄音與重取樣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錄一句話，PyAV 轉為 16 kHz 音訊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 Silero VAD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辨認語音區段，句尾停頓約 1 秒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  <a:tr h="73152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  Whisper small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CPU int8 本機辨識，保留整句文字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  完整性檢查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 秒內未完成或使用者取消，就不送指令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  <p:sp>
        <p:nvSpPr>
          <p:cNvPr id="4" name="text-vhp8v8-2">
            <a:extLst xmlns:a="http://schemas.openxmlformats.org/drawingml/2006/main">
              <a:ext uri="{FF2B5EF4-FFF2-40B4-BE49-F238E27FC236}">
                <a16:creationId xmlns:a16="http://schemas.microsoft.com/office/drawing/2014/main" id="{54129E39-411D-44F2-BB6D-180A5B4E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64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864D8"/>
                </a:solidFill>
                <a:latin typeface="Microsoft JhengHei"/>
                <a:ea typeface="Microsoft JhengHei"/>
                <a:cs typeface="Microsoft JhengHei"/>
              </a:rPr>
              <a:t>短句模型推論約 1.15～1.44 秒</a:t>
            </a:r>
          </a:p>
        </p:txBody>
      </p:sp>
      <p:sp>
        <p:nvSpPr>
          <p:cNvPr id="5" name="text-vhp8v8-3">
            <a:extLst xmlns:a="http://schemas.openxmlformats.org/drawingml/2006/main">
              <a:ext uri="{FF2B5EF4-FFF2-40B4-BE49-F238E27FC236}">
                <a16:creationId xmlns:a16="http://schemas.microsoft.com/office/drawing/2014/main" id="{AF869564-F30C-4681-BAAB-63C46272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合成 WAV，i7-13700K／8 執行緒，不含錄音與句尾等待</a:t>
            </a:r>
          </a:p>
        </p:txBody>
      </p:sp>
    </p:spTree>
    <p:extLst>
      <p:ext uri="{BB962C8B-B14F-4D97-AF65-F5344CB8AC3E}">
        <p14:creationId xmlns:p14="http://schemas.microsoft.com/office/powerpoint/2010/main" val="7337925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r9mh9o-0">
            <a:extLst xmlns:a="http://schemas.openxmlformats.org/drawingml/2006/main">
              <a:ext uri="{FF2B5EF4-FFF2-40B4-BE49-F238E27FC236}">
                <a16:creationId xmlns:a16="http://schemas.microsoft.com/office/drawing/2014/main" id="{5BBD89FC-4550-4E25-BAD7-7BDCBBB3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有限近音校正與拒絕</a:t>
            </a:r>
            <a:r>
              <a: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規則</a:t>
            </a:r>
          </a:p>
        </p:txBody>
      </p:sp>
      <p:sp>
        <p:nvSpPr>
          <p:cNvPr id="2" name="text-r9mh9o-1">
            <a:extLst xmlns:a="http://schemas.openxmlformats.org/drawingml/2006/main">
              <a:ext uri="{FF2B5EF4-FFF2-40B4-BE49-F238E27FC236}">
                <a16:creationId xmlns:a16="http://schemas.microsoft.com/office/drawing/2014/main" id="{AAE16FA0-EA89-4831-8457-FEE11E88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07 / 14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38300"/>
          <a:ext xmlns:a="http://schemas.openxmlformats.org/drawingml/2006/main" cx="10858500" cy="3962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619750"/>
                <a:gridCol w="5238750"/>
              </a:tblGrid>
              <a:tr h="6604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辨識文字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處理結果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</a:tr>
              <a:tr h="6604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有并开灯、又邊開燈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近音校正為「右邊開燈」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佐邊開燈、左并开灯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近音校正為「左邊開燈」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  <a:tr h="6604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不要有并开灯、右邊不開燈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否定或取消，不執行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右邊台燈、右邊開門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動作或對象不同，不執行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  <a:tr h="66040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右邊開燈嗎、左右邊開燈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問句或方向不清楚，不執行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r9mh9o-2">
            <a:extLst xmlns:a="http://schemas.openxmlformats.org/drawingml/2006/main">
              <a:ext uri="{FF2B5EF4-FFF2-40B4-BE49-F238E27FC236}">
                <a16:creationId xmlns:a16="http://schemas.microsoft.com/office/drawing/2014/main" id="{DE275616-BA02-4F7E-9756-6249611A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787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7876F"/>
                </a:solidFill>
                <a:latin typeface="Microsoft JhengHei"/>
                <a:ea typeface="Microsoft JhengHei"/>
                <a:cs typeface="Microsoft JhengHei"/>
              </a:rPr>
              <a:t>先拒絕不合語意的句子，再做有限拼音校正</a:t>
            </a:r>
          </a:p>
        </p:txBody>
      </p:sp>
    </p:spTree>
    <p:extLst>
      <p:ext uri="{BB962C8B-B14F-4D97-AF65-F5344CB8AC3E}">
        <p14:creationId xmlns:p14="http://schemas.microsoft.com/office/powerpoint/2010/main" val="491665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2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tnw1fq-0">
            <a:extLst xmlns:a="http://schemas.openxmlformats.org/drawingml/2006/main">
              <a:ext uri="{FF2B5EF4-FFF2-40B4-BE49-F238E27FC236}">
                <a16:creationId xmlns:a16="http://schemas.microsoft.com/office/drawing/2014/main" id="{71F678DE-CE51-4B84-B23D-1808AF12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TCP 連線與 ACK 確認</a:t>
            </a:r>
          </a:p>
        </p:txBody>
      </p:sp>
      <p:sp>
        <p:nvSpPr>
          <p:cNvPr id="2" name="text-tnw1fq-1">
            <a:extLst xmlns:a="http://schemas.openxmlformats.org/drawingml/2006/main">
              <a:ext uri="{FF2B5EF4-FFF2-40B4-BE49-F238E27FC236}">
                <a16:creationId xmlns:a16="http://schemas.microsoft.com/office/drawing/2014/main" id="{668B0EFD-4569-475B-B5CB-9F32AE54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9BF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A9BFCE"/>
                </a:solidFill>
                <a:latin typeface="Microsoft JhengHei"/>
                <a:ea typeface="Microsoft JhengHei"/>
                <a:cs typeface="Microsoft JhengHei"/>
              </a:rPr>
              <a:t>08 / 14</a:t>
            </a:r>
          </a:p>
        </p:txBody>
      </p:sp>
      <p:sp>
        <p:nvSpPr>
          <p:cNvPr id="3" name="text-tnw1fq-2">
            <a:extLst xmlns:a="http://schemas.openxmlformats.org/drawingml/2006/main">
              <a:ext uri="{FF2B5EF4-FFF2-40B4-BE49-F238E27FC236}">
                <a16:creationId xmlns:a16="http://schemas.microsoft.com/office/drawing/2014/main" id="{965C94C2-1E5D-440B-941F-1A8DF769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85AE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85AEFF"/>
                </a:solidFill>
                <a:latin typeface="Microsoft JhengHei"/>
                <a:ea typeface="Microsoft JhengHei"/>
                <a:cs typeface="Microsoft JhengHei"/>
              </a:rPr>
              <a:t>1  HELLO 驗證裝置及版本</a:t>
            </a:r>
          </a:p>
        </p:txBody>
      </p:sp>
      <p:sp>
        <p:nvSpPr>
          <p:cNvPr id="4" name="text-tnw1fq-3">
            <a:extLst xmlns:a="http://schemas.openxmlformats.org/drawingml/2006/main">
              <a:ext uri="{FF2B5EF4-FFF2-40B4-BE49-F238E27FC236}">
                <a16:creationId xmlns:a16="http://schemas.microsoft.com/office/drawing/2014/main" id="{B3AAA4E8-F630-4B99-BAF0-BE94E5E3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145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 每則請求帶 id 與 command，JSON 後接換行</a:t>
            </a:r>
          </a:p>
        </p:txBody>
      </p:sp>
      <p:sp>
        <p:nvSpPr>
          <p:cNvPr id="5" name="text-tnw1fq-4">
            <a:extLst xmlns:a="http://schemas.openxmlformats.org/drawingml/2006/main">
              <a:ext uri="{FF2B5EF4-FFF2-40B4-BE49-F238E27FC236}">
                <a16:creationId xmlns:a16="http://schemas.microsoft.com/office/drawing/2014/main" id="{7C9A1656-E3B7-4C91-9B2A-4BEF497E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2E3F0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D2E3F0"/>
                </a:solidFill>
                <a:latin typeface="Consolas"/>
                <a:ea typeface="Consolas"/>
                <a:cs typeface="Consolas"/>
              </a:rPr>
              <a:t>{"id":3,"command":"BLUE_ON"}</a:t>
            </a:r>
          </a:p>
        </p:txBody>
      </p:sp>
      <p:sp>
        <p:nvSpPr>
          <p:cNvPr id="6" name="text-tnw1fq-5">
            <a:extLst xmlns:a="http://schemas.openxmlformats.org/drawingml/2006/main">
              <a:ext uri="{FF2B5EF4-FFF2-40B4-BE49-F238E27FC236}">
                <a16:creationId xmlns:a16="http://schemas.microsoft.com/office/drawing/2014/main" id="{4B4ECB93-7778-4EF4-9F9F-0FA7041E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  回覆編號與指令相符，且 ok=true 才成功</a:t>
            </a:r>
          </a:p>
        </p:txBody>
      </p:sp>
      <p:sp>
        <p:nvSpPr>
          <p:cNvPr id="7" name="text-tnw1fq-6">
            <a:extLst xmlns:a="http://schemas.openxmlformats.org/drawingml/2006/main">
              <a:ext uri="{FF2B5EF4-FFF2-40B4-BE49-F238E27FC236}">
                <a16:creationId xmlns:a16="http://schemas.microsoft.com/office/drawing/2014/main" id="{051F0AEB-46FE-4301-A295-EB7A9ECF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6CDBC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CDBC2"/>
                </a:solidFill>
                <a:latin typeface="Microsoft JhengHei"/>
                <a:ea typeface="Microsoft JhengHei"/>
                <a:cs typeface="Microsoft JhengHei"/>
              </a:rPr>
              <a:t>3 秒逾時或回覆格式不符</a:t>
            </a:r>
          </a:p>
        </p:txBody>
      </p:sp>
      <p:sp>
        <p:nvSpPr>
          <p:cNvPr id="8" name="text-tnw1fq-7">
            <a:extLst xmlns:a="http://schemas.openxmlformats.org/drawingml/2006/main">
              <a:ext uri="{FF2B5EF4-FFF2-40B4-BE49-F238E27FC236}">
                <a16:creationId xmlns:a16="http://schemas.microsoft.com/office/drawing/2014/main" id="{E9478919-3939-41E0-A82C-309012B9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關閉連線，LED 狀態標為未知，重新連線後再確認</a:t>
            </a:r>
          </a:p>
        </p:txBody>
      </p:sp>
    </p:spTree>
    <p:extLst>
      <p:ext uri="{BB962C8B-B14F-4D97-AF65-F5344CB8AC3E}">
        <p14:creationId xmlns:p14="http://schemas.microsoft.com/office/powerpoint/2010/main" val="1371493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p0wjy-0">
            <a:extLst xmlns:a="http://schemas.openxmlformats.org/drawingml/2006/main">
              <a:ext uri="{FF2B5EF4-FFF2-40B4-BE49-F238E27FC236}">
                <a16:creationId xmlns:a16="http://schemas.microsoft.com/office/drawing/2014/main" id="{895A9F61-54B1-4815-938D-E657BF96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AMB82-MINI 韌體與燒錄</a:t>
            </a:r>
          </a:p>
        </p:txBody>
      </p:sp>
      <p:sp>
        <p:nvSpPr>
          <p:cNvPr id="2" name="text-3p0wjy-1">
            <a:extLst xmlns:a="http://schemas.openxmlformats.org/drawingml/2006/main">
              <a:ext uri="{FF2B5EF4-FFF2-40B4-BE49-F238E27FC236}">
                <a16:creationId xmlns:a16="http://schemas.microsoft.com/office/drawing/2014/main" id="{7FAF8085-C33D-4FD6-87FB-7525322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09 / 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581150"/>
          <a:ext xmlns:a="http://schemas.openxmlformats.org/drawingml/2006/main" cx="10858500" cy="2952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4381500"/>
                <a:gridCol w="2952750"/>
              </a:tblGrid>
              <a:tr h="7381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控制指令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LED 腳位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輸出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</a:tr>
              <a:tr h="7381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BLUE_ON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藍燈 23 / PF9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HIGH 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GREEN_ON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綠燈 24 / PE6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HIGH 亮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  <a:tr h="7381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ALL_OFF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兩顆 LED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LOW 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3p0wjy-2">
            <a:extLst xmlns:a="http://schemas.openxmlformats.org/drawingml/2006/main">
              <a:ext uri="{FF2B5EF4-FFF2-40B4-BE49-F238E27FC236}">
                <a16:creationId xmlns:a16="http://schemas.microsoft.com/office/drawing/2014/main" id="{7DA3339C-1059-417C-B00E-6F9F7EB5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864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2864D8"/>
                </a:solidFill>
                <a:latin typeface="Microsoft JhengHei"/>
                <a:ea typeface="Microsoft JhengHei"/>
                <a:cs typeface="Microsoft JhengHei"/>
              </a:rPr>
              <a:t>COM3 燒錄已成功</a:t>
            </a:r>
          </a:p>
        </p:txBody>
      </p:sp>
      <p:sp>
        <p:nvSpPr>
          <p:cNvPr id="5" name="text-3p0wjy-3">
            <a:extLst xmlns:a="http://schemas.openxmlformats.org/drawingml/2006/main">
              <a:ext uri="{FF2B5EF4-FFF2-40B4-BE49-F238E27FC236}">
                <a16:creationId xmlns:a16="http://schemas.microsoft.com/office/drawing/2014/main" id="{CDF17BA1-DA4F-4024-B61A-EB5CDE93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Download Mode 燒錄，重啟後以 115200 baud 讀取 IP</a:t>
            </a:r>
          </a:p>
        </p:txBody>
      </p:sp>
      <p:sp>
        <p:nvSpPr>
          <p:cNvPr id="6" name="text-3p0wjy-4">
            <a:extLst xmlns:a="http://schemas.openxmlformats.org/drawingml/2006/main">
              <a:ext uri="{FF2B5EF4-FFF2-40B4-BE49-F238E27FC236}">
                <a16:creationId xmlns:a16="http://schemas.microsoft.com/office/drawing/2014/main" id="{C8500A71-831C-4491-8321-5183A52B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執行工具：hw1/tools/upload.ps1    IP 查詢：hw1/tools/read_ip.ps1</a:t>
            </a:r>
          </a:p>
        </p:txBody>
      </p:sp>
    </p:spTree>
    <p:extLst>
      <p:ext uri="{BB962C8B-B14F-4D97-AF65-F5344CB8AC3E}">
        <p14:creationId xmlns:p14="http://schemas.microsoft.com/office/powerpoint/2010/main" val="791502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z0eg7k-0">
            <a:extLst xmlns:a="http://schemas.openxmlformats.org/drawingml/2006/main">
              <a:ext uri="{FF2B5EF4-FFF2-40B4-BE49-F238E27FC236}">
                <a16:creationId xmlns:a16="http://schemas.microsoft.com/office/drawing/2014/main" id="{6CA22551-1521-4E4D-86F9-0EC08A41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已完成的檢查與實機回覆</a:t>
            </a:r>
          </a:p>
        </p:txBody>
      </p:sp>
      <p:sp>
        <p:nvSpPr>
          <p:cNvPr id="2" name="text-z0eg7k-1">
            <a:extLst xmlns:a="http://schemas.openxmlformats.org/drawingml/2006/main">
              <a:ext uri="{FF2B5EF4-FFF2-40B4-BE49-F238E27FC236}">
                <a16:creationId xmlns:a16="http://schemas.microsoft.com/office/drawing/2014/main" id="{B5477445-6B31-4DA1-A686-597C4696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10 / 14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3830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810000"/>
                <a:gridCol w="7048500"/>
              </a:tblGrid>
              <a:tr h="6667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檢查範圍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目前證據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</a:tr>
              <a:tr h="6667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桌面回歸測試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42 項通過：語句、錄音、UI 與 TCP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韌體解析器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93 項檢查通過：格式、長度與 ID 邊界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  <a:tr h="6667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合成音訊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 個樣本符合預期，另有 5 筆整合檢查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實機 Wi-Fi / TCP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HELLO、藍燈、綠燈、關燈收到正確 ACK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  <a:tr h="666750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拒絕非法操作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 HELLO 與未知指令遭拒，回報狀態不變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z0eg7k-2">
            <a:extLst xmlns:a="http://schemas.openxmlformats.org/drawingml/2006/main">
              <a:ext uri="{FF2B5EF4-FFF2-40B4-BE49-F238E27FC236}">
                <a16:creationId xmlns:a16="http://schemas.microsoft.com/office/drawing/2014/main" id="{0D4F17CC-4B92-4743-9E86-6E6BBCFD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15025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證據日期：2026-09-19。實機 ACK 與真人驗收分開記錄</a:t>
            </a:r>
          </a:p>
        </p:txBody>
      </p:sp>
    </p:spTree>
    <p:extLst>
      <p:ext uri="{BB962C8B-B14F-4D97-AF65-F5344CB8AC3E}">
        <p14:creationId xmlns:p14="http://schemas.microsoft.com/office/powerpoint/2010/main" val="20238943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zfd398-0">
            <a:extLst xmlns:a="http://schemas.openxmlformats.org/drawingml/2006/main">
              <a:ext uri="{FF2B5EF4-FFF2-40B4-BE49-F238E27FC236}">
                <a16:creationId xmlns:a16="http://schemas.microsoft.com/office/drawing/2014/main" id="{825817C2-BAD1-424F-A852-79FBC48C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現場驗收與目前限制</a:t>
            </a:r>
          </a:p>
        </p:txBody>
      </p:sp>
      <p:sp>
        <p:nvSpPr>
          <p:cNvPr id="2" name="text-zfd398-1">
            <a:extLst xmlns:a="http://schemas.openxmlformats.org/drawingml/2006/main">
              <a:ext uri="{FF2B5EF4-FFF2-40B4-BE49-F238E27FC236}">
                <a16:creationId xmlns:a16="http://schemas.microsoft.com/office/drawing/2014/main" id="{0D122FAE-534F-417A-9119-82523C85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11 / 14</a:t>
            </a:r>
          </a:p>
        </p:txBody>
      </p:sp>
      <p:sp>
        <p:nvSpPr>
          <p:cNvPr id="3" name="text-zfd398-2">
            <a:extLst xmlns:a="http://schemas.openxmlformats.org/drawingml/2006/main">
              <a:ext uri="{FF2B5EF4-FFF2-40B4-BE49-F238E27FC236}">
                <a16:creationId xmlns:a16="http://schemas.microsoft.com/office/drawing/2014/main" id="{40522CA6-D49C-4A21-AE7E-409607AC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864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864D8"/>
                </a:solidFill>
                <a:latin typeface="Microsoft JhengHei"/>
                <a:ea typeface="Microsoft JhengHei"/>
                <a:cs typeface="Microsoft JhengHei"/>
              </a:rPr>
              <a:t>12 次現場紀錄仍待填寫</a:t>
            </a:r>
          </a:p>
        </p:txBody>
      </p:sp>
      <p:sp>
        <p:nvSpPr>
          <p:cNvPr id="4" name="text-zfd398-3">
            <a:extLst xmlns:a="http://schemas.openxmlformats.org/drawingml/2006/main">
              <a:ext uri="{FF2B5EF4-FFF2-40B4-BE49-F238E27FC236}">
                <a16:creationId xmlns:a16="http://schemas.microsoft.com/office/drawing/2014/main" id="{A721320A-215A-4FEB-9EA6-A6A30EB5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66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左邊 5 次 + 右邊 5 次</a:t>
            </a:r>
          </a:p>
          <a:p xmlns:a="http://schemas.openxmlformats.org/drawingml/2006/main">
            <a:pPr>
              <a:defRPr sz="255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非控制語句 1 次 + 通訊中斷 1 次</a:t>
            </a:r>
          </a:p>
        </p:txBody>
      </p:sp>
      <p:sp>
        <p:nvSpPr>
          <p:cNvPr id="5" name="text-zfd398-4">
            <a:extLst xmlns:a="http://schemas.openxmlformats.org/drawingml/2006/main">
              <a:ext uri="{FF2B5EF4-FFF2-40B4-BE49-F238E27FC236}">
                <a16:creationId xmlns:a16="http://schemas.microsoft.com/office/drawing/2014/main" id="{CB1C00A6-B5AF-4A8E-BA76-7F11FE26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每次同時看原始文字、語句判斷、ACK 與實際 LED</a:t>
            </a:r>
          </a:p>
        </p:txBody>
      </p:sp>
      <p:sp>
        <p:nvSpPr>
          <p:cNvPr id="6" name="text-zfd398-5">
            <a:extLst xmlns:a="http://schemas.openxmlformats.org/drawingml/2006/main">
              <a:ext uri="{FF2B5EF4-FFF2-40B4-BE49-F238E27FC236}">
                <a16:creationId xmlns:a16="http://schemas.microsoft.com/office/drawing/2014/main" id="{BDCD9AD0-668A-4149-BBB4-AD10527F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10572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辨識器可能漏字，近音</a:t>
            </a:r>
            <a:r>
              <a:rPr sz="210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規則</a:t>
            </a:r>
            <a:r>
              <a:rPr sz="210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無法還原所有原意</a:t>
            </a:r>
          </a:p>
          <a:p xmlns:a="http://schemas.openxmlformats.org/drawingml/2006/main">
            <a:pPr>
              <a:defRPr sz="210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板子回報輸出狀態，實際燈光需要肉眼確認</a:t>
            </a:r>
          </a:p>
        </p:txBody>
      </p:sp>
    </p:spTree>
    <p:extLst>
      <p:ext uri="{BB962C8B-B14F-4D97-AF65-F5344CB8AC3E}">
        <p14:creationId xmlns:p14="http://schemas.microsoft.com/office/powerpoint/2010/main" val="1523824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cr9m45-0">
            <a:extLst xmlns:a="http://schemas.openxmlformats.org/drawingml/2006/main">
              <a:ext uri="{FF2B5EF4-FFF2-40B4-BE49-F238E27FC236}">
                <a16:creationId xmlns:a16="http://schemas.microsoft.com/office/drawing/2014/main" id="{73EB33F7-40A1-43AE-BF7F-D5DD9A19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3 分鐘 demo 錄製順序</a:t>
            </a:r>
          </a:p>
        </p:txBody>
      </p:sp>
      <p:sp>
        <p:nvSpPr>
          <p:cNvPr id="2" name="text-cr9m45-1">
            <a:extLst xmlns:a="http://schemas.openxmlformats.org/drawingml/2006/main">
              <a:ext uri="{FF2B5EF4-FFF2-40B4-BE49-F238E27FC236}">
                <a16:creationId xmlns:a16="http://schemas.microsoft.com/office/drawing/2014/main" id="{72B4B87C-C155-42AF-8C16-EB17A9EA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12 / 14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62100"/>
          <a:ext xmlns:a="http://schemas.openxmlformats.org/drawingml/2006/main" cx="10858500" cy="44100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4429125"/>
                <a:gridCol w="4429125"/>
              </a:tblGrid>
              <a:tr h="630011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時間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畫面與操作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觀眾要看到的結果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</a:tr>
              <a:tr h="630011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0:00-0:25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展示未連線，再輸入當下 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按鈕停用，HELLO 成功後啟用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0011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0:25-1:05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先關燈，左右各說一次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原始文字、ACK 與對應 LED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  <a:tr h="630011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1:05-1:35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說非控制與否定語句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顯示拒絕，LED 不變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0011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1:35-2:00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文字輸入「有并开灯」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原文保留，另顯示近音校正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  <a:tr h="630011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2:00-2:35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斷開 Wi-Fi 再操作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通訊失敗，LED 狀態未知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0011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2:35-3:00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恢復網路，重連並全部關燈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重新確認狀態，結束錄影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4564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ugez8b-0">
            <a:extLst xmlns:a="http://schemas.openxmlformats.org/drawingml/2006/main">
              <a:ext uri="{FF2B5EF4-FFF2-40B4-BE49-F238E27FC236}">
                <a16:creationId xmlns:a16="http://schemas.microsoft.com/office/drawing/2014/main" id="{ED007C7F-BC30-482F-8E8C-C7E144D8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42D3F"/>
                </a:solidFill>
                <a:latin typeface="Microsoft JhengHei"/>
                <a:ea typeface="Microsoft JhengHei"/>
                <a:cs typeface="Microsoft JhengHei"/>
              </a:rPr>
              <a:t>Demo 失敗時的排查順序</a:t>
            </a:r>
          </a:p>
        </p:txBody>
      </p:sp>
      <p:sp>
        <p:nvSpPr>
          <p:cNvPr id="2" name="text-ugez8b-1">
            <a:extLst xmlns:a="http://schemas.openxmlformats.org/drawingml/2006/main">
              <a:ext uri="{FF2B5EF4-FFF2-40B4-BE49-F238E27FC236}">
                <a16:creationId xmlns:a16="http://schemas.microsoft.com/office/drawing/2014/main" id="{7FAAAC0E-8442-4539-83F9-D66594C7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A78"/>
                </a:solidFill>
                <a:latin typeface="Microsoft JhengHei"/>
                <a:ea typeface="Microsoft JhengHei"/>
                <a:cs typeface="Microsoft JhengHei"/>
              </a:rPr>
              <a:t>13 / 14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38300"/>
          <a:ext xmlns:a="http://schemas.openxmlformats.org/drawingml/2006/main" cx="10858500" cy="3933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7334250"/>
              </a:tblGrid>
              <a:tr h="78676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看到的問題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先確認什麼</a:t>
                      </a:r>
                    </a:p>
                  </a:txBody>
                  <a:tcPr marL="91440" marR="91440" marT="45720" marB="45720" anchor="ctr">
                    <a:solidFill>
                      <a:srgbClr val="142D3F"/>
                    </a:solidFill>
                  </a:tcPr>
                </a:tc>
              </a:tr>
              <a:tr h="78676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無法連線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板子供電、當下 IP、同一區域網路</a:t>
                      </a:r>
                    </a:p>
                    <a:p>
                      <a:r>
                        <a:rPr sz="210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TCP 8266 可達，沒有另一個桌面佔用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676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聽不到或一直等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麥克風選擇、Windows 權限</a:t>
                      </a:r>
                    </a:p>
                    <a:p>
                      <a:r>
                        <a:rPr sz="210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等可說話提示，說完停頓約 1 秒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  <a:tr h="78676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文字辨識錯誤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先看原始辨識文字</a:t>
                      </a:r>
                    </a:p>
                    <a:p>
                      <a:r>
                        <a:rPr sz="210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再看是模型誤聽或規則拒絕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676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傳輸逾時或狀態未知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恢復 Wi-Fi，重新連線</a:t>
                      </a:r>
                    </a:p>
                    <a:p>
                      <a:r>
                        <a:rPr sz="2100" b="0">
                          <a:solidFill>
                            <a:srgbClr val="142D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確認回報，再觀察實際 LED</a:t>
                      </a:r>
                    </a:p>
                  </a:txBody>
                  <a:tcPr marL="91440" marR="91440" marT="45720" marB="45720" anchor="ctr"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  <p:sp>
        <p:nvSpPr>
          <p:cNvPr id="4" name="text-ugez8b-2">
            <a:extLst xmlns:a="http://schemas.openxmlformats.org/drawingml/2006/main">
              <a:ext uri="{FF2B5EF4-FFF2-40B4-BE49-F238E27FC236}">
                <a16:creationId xmlns:a16="http://schemas.microsoft.com/office/drawing/2014/main" id="{38C32C0D-E808-4E9A-BDAE-CF585D49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787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7876F"/>
                </a:solidFill>
                <a:latin typeface="Microsoft JhengHei"/>
                <a:ea typeface="Microsoft JhengHei"/>
                <a:cs typeface="Microsoft JhengHei"/>
              </a:rPr>
              <a:t>保留失敗畫面與原因，重新測試後再更新紀錄</a:t>
            </a:r>
          </a:p>
        </p:txBody>
      </p:sp>
    </p:spTree>
    <p:extLst>
      <p:ext uri="{BB962C8B-B14F-4D97-AF65-F5344CB8AC3E}">
        <p14:creationId xmlns:p14="http://schemas.microsoft.com/office/powerpoint/2010/main" val="2595157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2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2znpo5-0">
            <a:extLst xmlns:a="http://schemas.openxmlformats.org/drawingml/2006/main">
              <a:ext uri="{FF2B5EF4-FFF2-40B4-BE49-F238E27FC236}">
                <a16:creationId xmlns:a16="http://schemas.microsoft.com/office/drawing/2014/main" id="{60C8CA39-A48B-4F73-BCEF-59F5F61C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成果與下一步</a:t>
            </a:r>
          </a:p>
        </p:txBody>
      </p:sp>
      <p:sp>
        <p:nvSpPr>
          <p:cNvPr id="2" name="text-2znpo5-1">
            <a:extLst xmlns:a="http://schemas.openxmlformats.org/drawingml/2006/main">
              <a:ext uri="{FF2B5EF4-FFF2-40B4-BE49-F238E27FC236}">
                <a16:creationId xmlns:a16="http://schemas.microsoft.com/office/drawing/2014/main" id="{83E74606-68FA-4D66-B469-E1E62B48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9BF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A9BFCE"/>
                </a:solidFill>
                <a:latin typeface="Microsoft JhengHei"/>
                <a:ea typeface="Microsoft JhengHei"/>
                <a:cs typeface="Microsoft JhengHei"/>
              </a:rPr>
              <a:t>14 / 14</a:t>
            </a:r>
          </a:p>
        </p:txBody>
      </p:sp>
      <p:sp>
        <p:nvSpPr>
          <p:cNvPr id="3" name="text-2znpo5-2">
            <a:extLst xmlns:a="http://schemas.openxmlformats.org/drawingml/2006/main">
              <a:ext uri="{FF2B5EF4-FFF2-40B4-BE49-F238E27FC236}">
                <a16:creationId xmlns:a16="http://schemas.microsoft.com/office/drawing/2014/main" id="{D649B54A-786D-4FF8-8716-19863D00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電腦完成中文辨識與操作回饋</a:t>
            </a:r>
          </a:p>
        </p:txBody>
      </p:sp>
      <p:sp>
        <p:nvSpPr>
          <p:cNvPr id="4" name="text-2znpo5-3">
            <a:extLst xmlns:a="http://schemas.openxmlformats.org/drawingml/2006/main">
              <a:ext uri="{FF2B5EF4-FFF2-40B4-BE49-F238E27FC236}">
                <a16:creationId xmlns:a16="http://schemas.microsoft.com/office/drawing/2014/main" id="{63EAD91F-FDC5-4567-8E9D-0C666C69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AMB82-MINI 執行控制並回傳 ACK</a:t>
            </a:r>
          </a:p>
        </p:txBody>
      </p:sp>
      <p:sp>
        <p:nvSpPr>
          <p:cNvPr id="5" name="text-2znpo5-4">
            <a:extLst xmlns:a="http://schemas.openxmlformats.org/drawingml/2006/main">
              <a:ext uri="{FF2B5EF4-FFF2-40B4-BE49-F238E27FC236}">
                <a16:creationId xmlns:a16="http://schemas.microsoft.com/office/drawing/2014/main" id="{26E63442-077D-4723-8067-D45CA6BB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6CDBC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6CDBC2"/>
                </a:solidFill>
                <a:latin typeface="Microsoft JhengHei"/>
                <a:ea typeface="Microsoft JhengHei"/>
                <a:cs typeface="Microsoft JhengHei"/>
              </a:rPr>
              <a:t>接下來完成真人語音與實際 LED 驗收</a:t>
            </a:r>
          </a:p>
        </p:txBody>
      </p:sp>
      <p:sp>
        <p:nvSpPr>
          <p:cNvPr id="6" name="text-2znpo5-5">
            <a:extLst xmlns:a="http://schemas.openxmlformats.org/drawingml/2006/main">
              <a:ext uri="{FF2B5EF4-FFF2-40B4-BE49-F238E27FC236}">
                <a16:creationId xmlns:a16="http://schemas.microsoft.com/office/drawing/2014/main" id="{4B1FCAF0-FBCC-4B6B-91E0-EB8D4E43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66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FD2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BFD2E0"/>
                </a:solidFill>
                <a:latin typeface="Microsoft JhengHei"/>
                <a:ea typeface="Microsoft JhengHei"/>
                <a:cs typeface="Microsoft JhengHei"/>
              </a:rPr>
              <a:t>啟動：hw1/desktop/start.cmd</a:t>
            </a:r>
          </a:p>
        </p:txBody>
      </p:sp>
    </p:spTree>
    <p:extLst>
      <p:ext uri="{BB962C8B-B14F-4D97-AF65-F5344CB8AC3E}">
        <p14:creationId xmlns:p14="http://schemas.microsoft.com/office/powerpoint/2010/main" val="532091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2026-09-19T13:34:58.1250000Z</dcterms:created>
  <dcterms:modified xsi:type="dcterms:W3CDTF">2026-09-19T13:34:58.1250000Z</dcterms:modified>
</coreProperties>
</file>